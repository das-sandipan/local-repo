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is an open-source general purpose scripting language.</a:t>
            </a:r>
          </a:p>
          <a:p>
            <a:pPr>
              <a:defRPr sz="1800"/>
            </a:pPr>
            <a:r>
              <a:t>Written in C Language.</a:t>
            </a:r>
          </a:p>
          <a:p>
            <a:pPr>
              <a:defRPr sz="1800"/>
            </a:pPr>
            <a:r>
              <a:t>Used for websites (Django, Flask) and machine learning (Scikit-learn).</a:t>
            </a:r>
          </a:p>
          <a:p>
            <a:pPr>
              <a:defRPr sz="1800"/>
            </a:pPr>
            <a:r>
              <a:t>Interpreted, not compiled.</a:t>
            </a:r>
          </a:p>
          <a:p>
            <a:pPr>
              <a:defRPr sz="1800"/>
            </a:pPr>
            <a:r>
              <a:t>Developed by Guido van Rossum, first released in 1991.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3.x widely used; Python 2.x mostly forward compatible.</a:t>
            </a:r>
          </a:p>
          <a:p>
            <a:pPr>
              <a:defRPr sz="1800"/>
            </a:pPr>
            <a:r>
              <a:t>Packages for data analysis available in both versions.</a:t>
            </a:r>
          </a:p>
          <a:p>
            <a:pPr>
              <a:defRPr sz="1800"/>
            </a:pPr>
            <a:r>
              <a:t>Division difference: Python 2 (5/2=2), Python 3 (5/2=2.5).</a:t>
            </a:r>
          </a:p>
          <a:p>
            <a:pPr>
              <a:defRPr sz="1800"/>
            </a:pPr>
            <a:r>
              <a:t>Multiple versions/environments can co-exist (Conda, venv).</a:t>
            </a:r>
          </a:p>
          <a:p>
            <a:pPr>
              <a:defRPr sz="1800"/>
            </a:pPr>
            <a:r>
              <a:t>Anaconda bundles useful packages and IDEs like JupyterLab.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defRPr sz="1800"/>
            </a:pPr>
            <a:r>
              <a:t>Variables can be printed directly or as strings.</a:t>
            </a:r>
          </a:p>
          <a:p>
            <a:pPr>
              <a:defRPr sz="1800"/>
            </a:pPr>
            <a:r>
              <a:t>Use help(x) to inspect objects.</a:t>
            </a:r>
          </a:p>
          <a:p>
            <a:pPr>
              <a:defRPr sz="1800"/>
            </a:pPr>
            <a:r>
              <a:t>Indentation defines code blocks.</a:t>
            </a:r>
          </a:p>
          <a:p>
            <a:pPr>
              <a:defRPr sz="1800"/>
            </a:pPr>
            <a:r>
              <a:t>Line breaks use backslash \.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x = 5</a:t>
            </a:r>
          </a:p>
          <a:p>
            <a:pPr>
              <a:defRPr sz="1600">
                <a:latin typeface="Courier New"/>
              </a:defRPr>
            </a:pPr>
            <a:r>
              <a:t>print("x")   # prints literal string</a:t>
            </a:r>
          </a:p>
          <a:p>
            <a:pPr>
              <a:defRPr sz="1600">
                <a:latin typeface="Courier New"/>
              </a:defRPr>
            </a:pPr>
            <a:r>
              <a:t>print(x)     # prints variable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defRPr sz="1800"/>
            </a:pPr>
            <a:r>
              <a:t>Strings are characters within quotes.</a:t>
            </a:r>
          </a:p>
          <a:p>
            <a:pPr>
              <a:defRPr sz="1800"/>
            </a:pPr>
            <a:r>
              <a:t>Indexed forward (0,1,2,…) and backward (-1,-2,…).</a:t>
            </a:r>
          </a:p>
          <a:p>
            <a:pPr>
              <a:defRPr sz="1800"/>
            </a:pPr>
            <a:r>
              <a:t>Operators: + concatenation, * repetition, %s formatting.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str = "Hello"</a:t>
            </a:r>
          </a:p>
          <a:p>
            <a:pPr>
              <a:defRPr sz="1600">
                <a:latin typeface="Courier New"/>
              </a:defRPr>
            </a:pPr>
            <a:r>
              <a:t>str[0]      # 'H'</a:t>
            </a:r>
          </a:p>
          <a:p>
            <a:pPr>
              <a:defRPr sz="1600">
                <a:latin typeface="Courier New"/>
              </a:defRPr>
            </a:pPr>
            <a:r>
              <a:t>str[-1]     # 'o'</a:t>
            </a:r>
          </a:p>
          <a:p>
            <a:pPr>
              <a:defRPr sz="1600">
                <a:latin typeface="Courier New"/>
              </a:defRPr>
            </a:pPr>
            <a:r>
              <a:t>str[1:3]    # 'el'</a:t>
            </a:r>
          </a:p>
          <a:p>
            <a:pPr>
              <a:defRPr sz="1600">
                <a:latin typeface="Courier New"/>
              </a:defRPr>
            </a:pPr>
            <a:r>
              <a:t>print("%s cannot be %s" %("the moon", "stolen"))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defRPr sz="1800"/>
            </a:pPr>
            <a:r>
              <a:t>Defined with square brackets [ ].</a:t>
            </a:r>
          </a:p>
          <a:p>
            <a:pPr>
              <a:defRPr sz="1800"/>
            </a:pPr>
            <a:r>
              <a:t>Can contain mixed items.</a:t>
            </a:r>
          </a:p>
          <a:p>
            <a:pPr>
              <a:defRPr sz="1800"/>
            </a:pPr>
            <a:r>
              <a:t>Indexed, iterable, mutable.</a:t>
            </a:r>
          </a:p>
          <a:p>
            <a:pPr>
              <a:defRPr sz="1800"/>
            </a:pPr>
            <a:r>
              <a:t>Operators: + concatenation, * repetition.</a:t>
            </a:r>
          </a:p>
          <a:p>
            <a:pPr>
              <a:defRPr sz="1800"/>
            </a:pPr>
            <a:r>
              <a:t>Functions: append, insert, extend, pop.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myList = ["Movie", "Mathematics", "Magic"]</a:t>
            </a:r>
          </a:p>
          <a:p>
            <a:pPr>
              <a:defRPr sz="1600">
                <a:latin typeface="Courier New"/>
              </a:defRPr>
            </a:pPr>
            <a:r>
              <a:t>myList[0]           # 'Movie'</a:t>
            </a:r>
          </a:p>
          <a:p>
            <a:pPr>
              <a:defRPr sz="1600">
                <a:latin typeface="Courier New"/>
              </a:defRPr>
            </a:pPr>
            <a:r>
              <a:t>myList[:2]          # ['Movie', 'Mathematics']</a:t>
            </a:r>
          </a:p>
          <a:p>
            <a:pPr>
              <a:defRPr sz="1600">
                <a:latin typeface="Courier New"/>
              </a:defRPr>
            </a:pPr>
            <a:r>
              <a:t>myList[-1]          # 'Magic'</a:t>
            </a:r>
          </a:p>
          <a:p>
            <a:pPr>
              <a:defRPr sz="1600">
                <a:latin typeface="Courier New"/>
              </a:defRPr>
            </a:pPr>
            <a:r>
              <a:t>myList + ["Biking"] # concatenation</a:t>
            </a:r>
          </a:p>
          <a:p>
            <a:pPr>
              <a:defRPr sz="1600">
                <a:latin typeface="Courier New"/>
              </a:defRPr>
            </a:pPr>
            <a:r>
              <a:t>myList * 2          # repetition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